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7" r:id="rId6"/>
    <p:sldId id="263" r:id="rId7"/>
    <p:sldId id="270" r:id="rId8"/>
    <p:sldId id="264" r:id="rId9"/>
    <p:sldId id="260" r:id="rId10"/>
    <p:sldId id="268" r:id="rId11"/>
    <p:sldId id="261" r:id="rId12"/>
    <p:sldId id="269" r:id="rId13"/>
    <p:sldId id="262" r:id="rId14"/>
    <p:sldId id="271" r:id="rId15"/>
    <p:sldId id="272" r:id="rId16"/>
    <p:sldId id="273" r:id="rId17"/>
    <p:sldId id="274" r:id="rId18"/>
    <p:sldId id="266" r:id="rId19"/>
  </p:sldIdLst>
  <p:sldSz cx="14630400" cy="8229600"/>
  <p:notesSz cx="8229600" cy="14630400"/>
  <p:embeddedFontLst>
    <p:embeddedFont>
      <p:font typeface="Merriweather" panose="00000500000000000000" pitchFamily="2" charset="0"/>
      <p:regular r:id="rId21"/>
      <p:bold r:id="rId22"/>
      <p:italic r:id="rId23"/>
      <p:boldItalic r:id="rId24"/>
    </p:embeddedFont>
    <p:embeddedFont>
      <p:font typeface="Segoe UI" panose="020B0502040204020203" pitchFamily="3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9FD420-C159-3A83-BCBB-F2BF2E7BEDFC}" v="18" dt="2026-05-08T05:22:34.2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63" autoAdjust="0"/>
    <p:restoredTop sz="94660"/>
  </p:normalViewPr>
  <p:slideViewPr>
    <p:cSldViewPr snapToGrid="0">
      <p:cViewPr varScale="1">
        <p:scale>
          <a:sx n="65" d="100"/>
          <a:sy n="65" d="100"/>
        </p:scale>
        <p:origin x="4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8155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FCC8A-5B74-4BA8-B1D6-71D43FEB6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DAF02B-7BE5-E213-8018-44EEF79D4E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24CDAA-88FC-ADF7-6ABD-9FB3340C6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D9A46-2D73-A26A-FA1A-D5DDA18D09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6605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BCEF2-A046-2996-D057-204340F37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EF97A8-D825-8547-2878-B401F0FC9D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32B636-9E7C-45B3-A20D-8C7E27249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369DF-ECAC-A695-203B-B89ED02036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2831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92373" y="826174"/>
            <a:ext cx="13180815" cy="2313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050"/>
              </a:lnSpc>
              <a:buNone/>
            </a:pPr>
            <a:r>
              <a:rPr lang="en-US" sz="4850">
                <a:solidFill>
                  <a:srgbClr val="F5F0F0"/>
                </a:solidFill>
                <a:latin typeface="Merriweather"/>
                <a:ea typeface="Merriweather" pitchFamily="34" charset="-122"/>
                <a:cs typeface="Merriweather" pitchFamily="34" charset="-120"/>
              </a:rPr>
              <a:t> Progress Seminar for 8th Semester </a:t>
            </a:r>
            <a:r>
              <a:rPr lang="en-US" sz="4850" dirty="0">
                <a:solidFill>
                  <a:srgbClr val="F5F0F0"/>
                </a:solidFill>
                <a:latin typeface="Merriweather"/>
                <a:ea typeface="Merriweather" pitchFamily="34" charset="-122"/>
                <a:cs typeface="Merriweather" pitchFamily="34" charset="-120"/>
              </a:rPr>
              <a:t>Industry Internship</a:t>
            </a:r>
            <a:endParaRPr lang="en-US" sz="4850" dirty="0">
              <a:latin typeface="Merriweather"/>
            </a:endParaRPr>
          </a:p>
        </p:txBody>
      </p:sp>
      <p:sp>
        <p:nvSpPr>
          <p:cNvPr id="4" name="Text 1"/>
          <p:cNvSpPr/>
          <p:nvPr/>
        </p:nvSpPr>
        <p:spPr>
          <a:xfrm>
            <a:off x="863798" y="4667131"/>
            <a:ext cx="10337602" cy="2736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2E6E9"/>
                </a:solidFill>
                <a:latin typeface="Times New Roman"/>
                <a:ea typeface="Merriweather" pitchFamily="34" charset="-122"/>
                <a:cs typeface="Times New Roman"/>
              </a:rPr>
              <a:t>Presented By:</a:t>
            </a:r>
            <a:r>
              <a:rPr lang="en-US" sz="3600" dirty="0">
                <a:solidFill>
                  <a:srgbClr val="E2E6E9"/>
                </a:solidFill>
                <a:latin typeface="Times New Roman"/>
                <a:ea typeface="Merriweather" pitchFamily="34" charset="-122"/>
                <a:cs typeface="Times New Roman"/>
              </a:rPr>
              <a:t> Kunal </a:t>
            </a:r>
            <a:r>
              <a:rPr lang="en-US" sz="3600" dirty="0" err="1">
                <a:solidFill>
                  <a:srgbClr val="E2E6E9"/>
                </a:solidFill>
                <a:latin typeface="Times New Roman"/>
                <a:ea typeface="Merriweather" pitchFamily="34" charset="-122"/>
                <a:cs typeface="Times New Roman"/>
              </a:rPr>
              <a:t>Choure</a:t>
            </a:r>
            <a:endParaRPr lang="en-US" sz="3600" dirty="0">
              <a:latin typeface="Times New Roman"/>
              <a:cs typeface="Times New Roman"/>
            </a:endParaRPr>
          </a:p>
          <a:p>
            <a:pPr marL="0" indent="0" algn="l">
              <a:buNone/>
            </a:pPr>
            <a:r>
              <a:rPr lang="en-US" sz="3600" b="1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Organization:</a:t>
            </a:r>
            <a:r>
              <a:rPr lang="en-US" sz="360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 Cognizant</a:t>
            </a:r>
          </a:p>
          <a:p>
            <a:pPr marL="0" indent="0" algn="l">
              <a:buNone/>
            </a:pPr>
            <a:r>
              <a:rPr lang="en-US" sz="3600" b="1" dirty="0">
                <a:solidFill>
                  <a:srgbClr val="E2E6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Location:</a:t>
            </a:r>
            <a:r>
              <a:rPr lang="en-US" sz="3600" dirty="0">
                <a:solidFill>
                  <a:srgbClr val="E2E6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Chennai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3600" b="1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Role:</a:t>
            </a:r>
            <a:r>
              <a:rPr lang="en-US" sz="3600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 Program Analyst Trainee</a:t>
            </a:r>
          </a:p>
          <a:p>
            <a:r>
              <a:rPr lang="en-US" sz="3600" b="1" dirty="0">
                <a:solidFill>
                  <a:srgbClr val="E2E6E9"/>
                </a:solidFill>
                <a:latin typeface="Times New Roman"/>
                <a:ea typeface="Merriweather" pitchFamily="34" charset="-122"/>
                <a:cs typeface="Times New Roman"/>
              </a:rPr>
              <a:t>Date:</a:t>
            </a:r>
            <a:r>
              <a:rPr lang="en-US" sz="3600" dirty="0">
                <a:solidFill>
                  <a:srgbClr val="E2E6E9"/>
                </a:solidFill>
                <a:latin typeface="Times New Roman"/>
                <a:ea typeface="Merriweather" pitchFamily="34" charset="-122"/>
                <a:cs typeface="Times New Roman"/>
              </a:rPr>
              <a:t> 9th May 2026</a:t>
            </a:r>
            <a:endParaRPr lang="en-US" sz="3600" dirty="0">
              <a:latin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4F5E03-158B-2452-4785-55E9B3E44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3842" y="6491174"/>
            <a:ext cx="6735115" cy="16194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54393" y="676037"/>
            <a:ext cx="6102906" cy="762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480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Cognizant</a:t>
            </a:r>
            <a:endParaRPr lang="en-US" sz="4800"/>
          </a:p>
        </p:txBody>
      </p:sp>
      <p:sp>
        <p:nvSpPr>
          <p:cNvPr id="5" name="Text 3"/>
          <p:cNvSpPr/>
          <p:nvPr/>
        </p:nvSpPr>
        <p:spPr>
          <a:xfrm>
            <a:off x="824330" y="2109996"/>
            <a:ext cx="6163032" cy="116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Cognizant is a leading multinational IT services and consulting organization specializing in digital transformation and enterprise technology solutions.</a:t>
            </a:r>
            <a:endParaRPr lang="en-US" sz="1900"/>
          </a:p>
        </p:txBody>
      </p:sp>
      <p:sp>
        <p:nvSpPr>
          <p:cNvPr id="6" name="Text 4"/>
          <p:cNvSpPr/>
          <p:nvPr/>
        </p:nvSpPr>
        <p:spPr>
          <a:xfrm>
            <a:off x="842981" y="3945910"/>
            <a:ext cx="6163032" cy="2654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50"/>
              </a:lnSpc>
              <a:buSzPct val="100000"/>
              <a:buChar char="•"/>
            </a:pPr>
            <a:r>
              <a:rPr lang="en-US" sz="190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Founded in 1994</a:t>
            </a:r>
            <a:endParaRPr lang="en-US" sz="1900"/>
          </a:p>
          <a:p>
            <a:pPr marL="342900" indent="-342900" algn="l">
              <a:lnSpc>
                <a:spcPts val="3050"/>
              </a:lnSpc>
              <a:buSzPct val="100000"/>
              <a:buChar char="•"/>
            </a:pPr>
            <a:r>
              <a:rPr lang="en-US" sz="190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Headquartered in the United States</a:t>
            </a:r>
            <a:endParaRPr lang="en-US" sz="1900"/>
          </a:p>
          <a:p>
            <a:pPr marL="342900" indent="-342900" algn="l">
              <a:lnSpc>
                <a:spcPts val="3050"/>
              </a:lnSpc>
              <a:buSzPct val="100000"/>
              <a:buChar char="•"/>
            </a:pPr>
            <a:r>
              <a:rPr lang="en-US" sz="190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Global presence across 40+ countries</a:t>
            </a:r>
            <a:endParaRPr lang="en-US" sz="1900"/>
          </a:p>
          <a:p>
            <a:pPr marL="342900" indent="-342900" algn="l">
              <a:lnSpc>
                <a:spcPts val="3050"/>
              </a:lnSpc>
              <a:buSzPct val="100000"/>
              <a:buChar char="•"/>
            </a:pPr>
            <a:r>
              <a:rPr lang="en-US" sz="190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Expertise in digital transformation and enterprise solutions</a:t>
            </a:r>
            <a:endParaRPr lang="en-US" sz="1900"/>
          </a:p>
        </p:txBody>
      </p:sp>
      <p:sp>
        <p:nvSpPr>
          <p:cNvPr id="7" name="Shape 5"/>
          <p:cNvSpPr/>
          <p:nvPr/>
        </p:nvSpPr>
        <p:spPr>
          <a:xfrm>
            <a:off x="7315200" y="1820286"/>
            <a:ext cx="6709272" cy="4780478"/>
          </a:xfrm>
          <a:prstGeom prst="roundRect">
            <a:avLst>
              <a:gd name="adj" fmla="val 3677"/>
            </a:avLst>
          </a:prstGeom>
          <a:solidFill>
            <a:srgbClr val="609D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88937" y="2109996"/>
            <a:ext cx="3489127" cy="381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Cognizant's Core Values</a:t>
            </a:r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7688937" y="2781062"/>
            <a:ext cx="6026348" cy="4073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50"/>
              </a:lnSpc>
              <a:buSzPct val="100000"/>
              <a:buChar char="•"/>
            </a:pPr>
            <a:r>
              <a:rPr lang="en-US" sz="1900" b="1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Work as One</a:t>
            </a:r>
            <a:r>
              <a:rPr lang="en-US" sz="190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– Collaborate and succeed together</a:t>
            </a:r>
            <a:endParaRPr lang="en-US" sz="1900"/>
          </a:p>
          <a:p>
            <a:pPr marL="342900" indent="-342900" algn="l">
              <a:lnSpc>
                <a:spcPts val="3050"/>
              </a:lnSpc>
              <a:buSzPct val="100000"/>
              <a:buChar char="•"/>
            </a:pPr>
            <a:r>
              <a:rPr lang="en-US" sz="1900" b="1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Raise the Bar</a:t>
            </a:r>
            <a:r>
              <a:rPr lang="en-US" sz="190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– Continuously strive for excellence</a:t>
            </a:r>
            <a:endParaRPr lang="en-US" sz="1900"/>
          </a:p>
          <a:p>
            <a:pPr marL="342900" indent="-342900" algn="l">
              <a:lnSpc>
                <a:spcPts val="3050"/>
              </a:lnSpc>
              <a:buSzPct val="100000"/>
              <a:buChar char="•"/>
            </a:pPr>
            <a:r>
              <a:rPr lang="en-US" sz="1900" b="1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Dare to Innovate</a:t>
            </a:r>
            <a:r>
              <a:rPr lang="en-US" sz="190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– Encourage innovation and new ideas</a:t>
            </a:r>
            <a:endParaRPr lang="en-US" sz="1900"/>
          </a:p>
          <a:p>
            <a:pPr marL="342900" indent="-342900" algn="l">
              <a:lnSpc>
                <a:spcPts val="3050"/>
              </a:lnSpc>
              <a:buSzPct val="100000"/>
              <a:buChar char="•"/>
            </a:pPr>
            <a:r>
              <a:rPr lang="en-US" sz="1900" b="1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Do the Right Thing</a:t>
            </a:r>
            <a:r>
              <a:rPr lang="en-US" sz="190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– Act with integrity and ethics</a:t>
            </a:r>
            <a:endParaRPr lang="en-US" sz="1900"/>
          </a:p>
          <a:p>
            <a:pPr marL="342900" indent="-342900" algn="l">
              <a:lnSpc>
                <a:spcPts val="3050"/>
              </a:lnSpc>
              <a:buSzPct val="100000"/>
              <a:buChar char="•"/>
            </a:pPr>
            <a:r>
              <a:rPr lang="en-US" sz="1900" b="1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Own It</a:t>
            </a:r>
            <a:r>
              <a:rPr lang="en-US" sz="190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– Take accountability and responsibility</a:t>
            </a:r>
            <a:endParaRPr lang="en-US" sz="19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7B3DDE-D78A-520A-9D70-2D9BB189D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5894" y="7730462"/>
            <a:ext cx="2972058" cy="3886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9294" y="558761"/>
            <a:ext cx="1913197" cy="283964"/>
          </a:xfrm>
          <a:prstGeom prst="roundRect">
            <a:avLst>
              <a:gd name="adj" fmla="val 18316"/>
            </a:avLst>
          </a:prstGeom>
          <a:noFill/>
          <a:ln w="7620">
            <a:solidFill>
              <a:srgbClr val="609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57049" y="610314"/>
            <a:ext cx="1478756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INTERNSHIP Domain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29295" y="991433"/>
            <a:ext cx="12471083" cy="626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My Domain – Adobe Experience Manager (AEM) </a:t>
            </a:r>
            <a:endParaRPr lang="en-US" sz="3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295" y="2044779"/>
            <a:ext cx="4082296" cy="54430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00701" y="2447497"/>
            <a:ext cx="8019219" cy="1390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Adobe Experience Manager (AEM) is an enterprise-level Content Management System used to manage digital content and large-scale websites for global organizations.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5608082" y="3946596"/>
            <a:ext cx="2505194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Focus Areas</a:t>
            </a:r>
            <a:endParaRPr lang="en-US" sz="1950"/>
          </a:p>
        </p:txBody>
      </p:sp>
      <p:sp>
        <p:nvSpPr>
          <p:cNvPr id="9" name="Text 6"/>
          <p:cNvSpPr/>
          <p:nvPr/>
        </p:nvSpPr>
        <p:spPr>
          <a:xfrm>
            <a:off x="5600581" y="4451985"/>
            <a:ext cx="8000524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Frontend development foundations</a:t>
            </a:r>
            <a:endParaRPr lang="en-US" sz="19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Backend fundamentals</a:t>
            </a:r>
            <a:endParaRPr lang="en-US" sz="19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Enterprise CMS understanding</a:t>
            </a:r>
            <a:endParaRPr lang="en-US" sz="19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Preparation for AEM implementation</a:t>
            </a:r>
            <a:endParaRPr lang="en-US" sz="1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435427-6055-F5DB-B2F4-3949C2774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5894" y="7730462"/>
            <a:ext cx="2972058" cy="388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370153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Internship Overview</a:t>
            </a:r>
            <a:endParaRPr lang="en-US" sz="4850"/>
          </a:p>
        </p:txBody>
      </p:sp>
      <p:sp>
        <p:nvSpPr>
          <p:cNvPr id="3" name="Shape 1"/>
          <p:cNvSpPr/>
          <p:nvPr/>
        </p:nvSpPr>
        <p:spPr>
          <a:xfrm>
            <a:off x="706635" y="3080317"/>
            <a:ext cx="6327934" cy="1452443"/>
          </a:xfrm>
          <a:prstGeom prst="roundRect">
            <a:avLst>
              <a:gd name="adj" fmla="val 7138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5855" y="3264515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Date of Joining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1125855" y="3831592"/>
            <a:ext cx="5803821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31st Jan 2026</a:t>
            </a:r>
            <a:endParaRPr lang="en-US" sz="1900"/>
          </a:p>
        </p:txBody>
      </p:sp>
      <p:sp>
        <p:nvSpPr>
          <p:cNvPr id="6" name="Shape 4"/>
          <p:cNvSpPr/>
          <p:nvPr/>
        </p:nvSpPr>
        <p:spPr>
          <a:xfrm>
            <a:off x="7373717" y="3080316"/>
            <a:ext cx="6328053" cy="1452443"/>
          </a:xfrm>
          <a:prstGeom prst="roundRect">
            <a:avLst>
              <a:gd name="adj" fmla="val 7138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00605" y="3264515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Final Assessment</a:t>
            </a:r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7700605" y="3816501"/>
            <a:ext cx="580394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>
                <a:solidFill>
                  <a:srgbClr val="E2E6E9"/>
                </a:solidFill>
                <a:latin typeface="Merriweather"/>
                <a:ea typeface="Merriweather" pitchFamily="34" charset="-122"/>
                <a:cs typeface="Merriweather" pitchFamily="34" charset="-120"/>
              </a:rPr>
              <a:t>26th May 2026</a:t>
            </a:r>
            <a:endParaRPr lang="en-US" sz="1900">
              <a:latin typeface="Merriweather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3798" y="5217438"/>
            <a:ext cx="12902803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internship is structured into two progressive stages with formal performance evaluations at each milestone to ensure comprehensive skill development and readiness for enterprise-level responsibilities.</a:t>
            </a:r>
            <a:endParaRPr lang="en-US" sz="19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6352734-8F3D-0485-44F3-9E77C9105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1284930" y="7629497"/>
            <a:ext cx="3345470" cy="4746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37C0E-2616-7514-5B0F-A4360C8BB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06C4491-82AC-AB78-E9C2-9B56471D7F15}"/>
              </a:ext>
            </a:extLst>
          </p:cNvPr>
          <p:cNvSpPr/>
          <p:nvPr/>
        </p:nvSpPr>
        <p:spPr>
          <a:xfrm>
            <a:off x="840048" y="823887"/>
            <a:ext cx="12322188" cy="1234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4850">
                <a:solidFill>
                  <a:srgbClr val="F5F0F0"/>
                </a:solidFill>
                <a:latin typeface="Merriweather"/>
                <a:cs typeface="Times New Roman"/>
              </a:rPr>
              <a:t>Internship Progress Summary</a:t>
            </a:r>
            <a:endParaRPr lang="en-US" sz="4850">
              <a:solidFill>
                <a:srgbClr val="000000"/>
              </a:solidFill>
              <a:latin typeface="Merriweather"/>
              <a:cs typeface="Times New Roman"/>
            </a:endParaRPr>
          </a:p>
          <a:p>
            <a:pPr>
              <a:lnSpc>
                <a:spcPts val="6050"/>
              </a:lnSpc>
            </a:pPr>
            <a:endParaRPr lang="en-US" sz="4850" dirty="0">
              <a:solidFill>
                <a:srgbClr val="F5F0F0"/>
              </a:solidFill>
              <a:latin typeface="Merriweather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EF1F0ED-6385-4FB9-8950-EF2A807443B9}"/>
              </a:ext>
            </a:extLst>
          </p:cNvPr>
          <p:cNvSpPr/>
          <p:nvPr/>
        </p:nvSpPr>
        <p:spPr>
          <a:xfrm>
            <a:off x="840847" y="2243237"/>
            <a:ext cx="10531214" cy="4126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endParaRPr lang="en-US" sz="2400" dirty="0">
              <a:solidFill>
                <a:srgbClr val="E2E6E9"/>
              </a:solidFill>
              <a:ea typeface="Calibri"/>
              <a:cs typeface="Calibri"/>
            </a:endParaRPr>
          </a:p>
          <a:p>
            <a:endParaRPr lang="en-US" sz="2400" dirty="0">
              <a:solidFill>
                <a:srgbClr val="E2E6E9"/>
              </a:solidFill>
              <a:ea typeface="Calibri"/>
              <a:cs typeface="Calibri"/>
            </a:endParaRPr>
          </a:p>
          <a:p>
            <a:endParaRPr lang="en-US"/>
          </a:p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684415-4451-24E4-8E8E-B8296DD75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1284930" y="7629497"/>
            <a:ext cx="3345470" cy="4746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BB3FE2-B091-6DA3-ECB4-4D6155CAD31D}"/>
              </a:ext>
            </a:extLst>
          </p:cNvPr>
          <p:cNvSpPr txBox="1"/>
          <p:nvPr/>
        </p:nvSpPr>
        <p:spPr>
          <a:xfrm>
            <a:off x="1199408" y="2167247"/>
            <a:ext cx="10865922" cy="41857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24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marL="457200" indent="-457200" algn="l" rtl="0">
              <a:buFont typeface="Arial"/>
              <a:buChar char="•"/>
            </a:pPr>
            <a:r>
              <a:rPr lang="en-US" sz="3200" b="0" i="0" u="none" strike="noStrike" baseline="0">
                <a:solidFill>
                  <a:srgbClr val="E2E6E9"/>
                </a:solidFill>
                <a:latin typeface="Merriweather"/>
                <a:ea typeface="Segoe UI"/>
                <a:cs typeface="Segoe UI"/>
              </a:rPr>
              <a:t>Internship joined on 31st Jan 2026 </a:t>
            </a:r>
            <a:r>
              <a:rPr lang="en-US" sz="3200" b="0" i="0">
                <a:solidFill>
                  <a:srgbClr val="000000"/>
                </a:solidFill>
                <a:latin typeface="Merriweather"/>
                <a:ea typeface="Segoe UI"/>
                <a:cs typeface="Segoe UI"/>
              </a:rPr>
              <a:t>​</a:t>
            </a:r>
          </a:p>
          <a:p>
            <a:pPr marL="457200" indent="-457200" algn="l" rtl="0">
              <a:buFont typeface="Arial"/>
              <a:buChar char="•"/>
            </a:pPr>
            <a:r>
              <a:rPr lang="en-US" sz="3200" b="0" i="0">
                <a:solidFill>
                  <a:srgbClr val="000000"/>
                </a:solidFill>
                <a:latin typeface="Merriweather"/>
                <a:ea typeface="Segoe UI"/>
                <a:cs typeface="Segoe UI"/>
              </a:rPr>
              <a:t>​</a:t>
            </a:r>
          </a:p>
          <a:p>
            <a:pPr marL="457200" indent="-457200" algn="l" rtl="0">
              <a:buFont typeface="Arial"/>
              <a:buChar char="•"/>
            </a:pPr>
            <a:r>
              <a:rPr lang="en-US" sz="3200" b="0" i="0" u="none" strike="noStrike" baseline="0">
                <a:solidFill>
                  <a:srgbClr val="E2E6E9"/>
                </a:solidFill>
                <a:latin typeface="Merriweather"/>
                <a:ea typeface="Segoe UI"/>
                <a:cs typeface="Segoe UI"/>
              </a:rPr>
              <a:t>Training structured into two stages </a:t>
            </a:r>
            <a:r>
              <a:rPr lang="en-US" sz="3200" b="0" i="0">
                <a:solidFill>
                  <a:srgbClr val="000000"/>
                </a:solidFill>
                <a:latin typeface="Merriweather"/>
                <a:ea typeface="Segoe UI"/>
                <a:cs typeface="Segoe UI"/>
              </a:rPr>
              <a:t>​</a:t>
            </a:r>
          </a:p>
          <a:p>
            <a:pPr marL="457200" indent="-457200" algn="l" rtl="0">
              <a:buFont typeface="Arial"/>
              <a:buChar char="•"/>
            </a:pPr>
            <a:r>
              <a:rPr lang="en-US" sz="3200" b="0" i="0">
                <a:solidFill>
                  <a:srgbClr val="000000"/>
                </a:solidFill>
                <a:latin typeface="Merriweather"/>
                <a:ea typeface="Segoe UI"/>
                <a:cs typeface="Segoe UI"/>
              </a:rPr>
              <a:t>​</a:t>
            </a:r>
          </a:p>
          <a:p>
            <a:pPr marL="457200" indent="-457200" algn="l" rtl="0">
              <a:buFont typeface="Arial"/>
              <a:buChar char="•"/>
            </a:pPr>
            <a:r>
              <a:rPr lang="en-US" sz="3200" b="1" i="0" u="none" strike="noStrike" baseline="0">
                <a:solidFill>
                  <a:srgbClr val="E2E6E9"/>
                </a:solidFill>
                <a:latin typeface="Merriweather"/>
                <a:ea typeface="Segoe UI"/>
                <a:cs typeface="Segoe UI"/>
              </a:rPr>
              <a:t>Stage 1 </a:t>
            </a:r>
            <a:r>
              <a:rPr lang="en-US" sz="3200" b="0" i="0" u="none" strike="noStrike" baseline="0">
                <a:solidFill>
                  <a:srgbClr val="E2E6E9"/>
                </a:solidFill>
                <a:latin typeface="Merriweather"/>
                <a:ea typeface="Segoe UI"/>
                <a:cs typeface="Segoe UI"/>
              </a:rPr>
              <a:t>completed successfully </a:t>
            </a:r>
            <a:r>
              <a:rPr lang="en-US" sz="3200" b="0" i="0">
                <a:solidFill>
                  <a:srgbClr val="000000"/>
                </a:solidFill>
                <a:latin typeface="Merriweather"/>
                <a:ea typeface="Segoe UI"/>
                <a:cs typeface="Segoe UI"/>
              </a:rPr>
              <a:t>​</a:t>
            </a:r>
          </a:p>
          <a:p>
            <a:pPr marL="457200" indent="-457200" algn="l" rtl="0">
              <a:buFont typeface="Arial"/>
              <a:buChar char="•"/>
            </a:pPr>
            <a:r>
              <a:rPr lang="en-US" sz="3200" b="0" i="0">
                <a:solidFill>
                  <a:srgbClr val="000000"/>
                </a:solidFill>
                <a:latin typeface="Merriweather"/>
                <a:ea typeface="Segoe UI"/>
                <a:cs typeface="Segoe UI"/>
              </a:rPr>
              <a:t>​</a:t>
            </a:r>
          </a:p>
          <a:p>
            <a:pPr marL="457200" indent="-457200" algn="l" rtl="0">
              <a:buFont typeface="Arial"/>
              <a:buChar char="•"/>
            </a:pPr>
            <a:r>
              <a:rPr lang="en-US" sz="3200" b="1" i="0" u="none" strike="noStrike" baseline="0">
                <a:solidFill>
                  <a:srgbClr val="E2E6E9"/>
                </a:solidFill>
                <a:latin typeface="Merriweather"/>
                <a:ea typeface="Segoe UI"/>
                <a:cs typeface="Segoe UI"/>
              </a:rPr>
              <a:t>Stage 2</a:t>
            </a:r>
            <a:r>
              <a:rPr lang="en-US" sz="3200" b="0" i="0" u="none" strike="noStrike" baseline="0">
                <a:solidFill>
                  <a:srgbClr val="E2E6E9"/>
                </a:solidFill>
                <a:latin typeface="Merriweather"/>
                <a:ea typeface="Segoe UI"/>
                <a:cs typeface="Segoe UI"/>
              </a:rPr>
              <a:t> currently in progress 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593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16485" y="770398"/>
            <a:ext cx="8914235" cy="55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Learning Platform &amp; Execution Model</a:t>
            </a:r>
            <a:endParaRPr lang="en-US" sz="3600" dirty="0"/>
          </a:p>
        </p:txBody>
      </p:sp>
      <p:sp>
        <p:nvSpPr>
          <p:cNvPr id="12" name="Text 5"/>
          <p:cNvSpPr/>
          <p:nvPr/>
        </p:nvSpPr>
        <p:spPr>
          <a:xfrm>
            <a:off x="1416485" y="1906347"/>
            <a:ext cx="12330613" cy="130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Training is delivered through a dedicated </a:t>
            </a:r>
            <a:r>
              <a:rPr lang="en-US" sz="1950" b="1" dirty="0" err="1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TeckStac</a:t>
            </a:r>
            <a:r>
              <a:rPr lang="en-US" sz="19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learning platform </a:t>
            </a: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that ensures practical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implementation alongside theoretical learning.</a:t>
            </a:r>
            <a:endParaRPr lang="en-US" sz="1950" dirty="0"/>
          </a:p>
        </p:txBody>
      </p:sp>
      <p:sp>
        <p:nvSpPr>
          <p:cNvPr id="13" name="Text 6"/>
          <p:cNvSpPr/>
          <p:nvPr/>
        </p:nvSpPr>
        <p:spPr>
          <a:xfrm>
            <a:off x="1525666" y="3367230"/>
            <a:ext cx="3645811" cy="576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95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Platform Features</a:t>
            </a:r>
            <a:endParaRPr lang="en-US" sz="1950"/>
          </a:p>
        </p:txBody>
      </p:sp>
      <p:sp>
        <p:nvSpPr>
          <p:cNvPr id="14" name="Text 7"/>
          <p:cNvSpPr/>
          <p:nvPr/>
        </p:nvSpPr>
        <p:spPr>
          <a:xfrm>
            <a:off x="1416485" y="3943254"/>
            <a:ext cx="7786130" cy="2316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Weekly hands-on assignments aligned with current topics</a:t>
            </a:r>
          </a:p>
          <a:p>
            <a:pPr marL="342900" indent="-342900" algn="l">
              <a:lnSpc>
                <a:spcPts val="2000"/>
              </a:lnSpc>
              <a:buSzPct val="100000"/>
              <a:buFont typeface="Arial" panose="020B0604020202020204" pitchFamily="34" charset="0"/>
              <a:buChar char="•"/>
            </a:pPr>
            <a:endParaRPr lang="en-US" sz="1950" dirty="0"/>
          </a:p>
          <a:p>
            <a:pPr marL="342900" indent="-342900" algn="l">
              <a:lnSpc>
                <a:spcPts val="2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Defined submission deadlines for accountability</a:t>
            </a:r>
          </a:p>
          <a:p>
            <a:pPr marL="342900" indent="-342900" algn="l">
              <a:lnSpc>
                <a:spcPts val="2000"/>
              </a:lnSpc>
              <a:buSzPct val="100000"/>
              <a:buFont typeface="Arial" panose="020B0604020202020204" pitchFamily="34" charset="0"/>
              <a:buChar char="•"/>
            </a:pPr>
            <a:endParaRPr lang="en-US" sz="1950" dirty="0"/>
          </a:p>
          <a:p>
            <a:pPr marL="342900" indent="-342900" algn="l">
              <a:lnSpc>
                <a:spcPts val="2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Topic-aligned practical exercises</a:t>
            </a:r>
          </a:p>
          <a:p>
            <a:pPr marL="342900" indent="-342900" algn="l">
              <a:lnSpc>
                <a:spcPts val="2000"/>
              </a:lnSpc>
              <a:buSzPct val="100000"/>
              <a:buFont typeface="Arial" panose="020B0604020202020204" pitchFamily="34" charset="0"/>
              <a:buChar char="•"/>
            </a:pPr>
            <a:endParaRPr lang="en-US" sz="1950" dirty="0"/>
          </a:p>
          <a:p>
            <a:pPr marL="342900" indent="-342900" algn="l">
              <a:lnSpc>
                <a:spcPts val="2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Continuous performance tracking and feedback</a:t>
            </a:r>
            <a:endParaRPr lang="en-US" sz="19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0F7A3AC-32C1-FD8E-A334-4426F430A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5894" y="7730462"/>
            <a:ext cx="2972058" cy="3886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rawing">
            <a:extLst>
              <a:ext uri="{FF2B5EF4-FFF2-40B4-BE49-F238E27FC236}">
                <a16:creationId xmlns:a16="http://schemas.microsoft.com/office/drawing/2014/main" id="{0E271287-E409-43B7-746E-5317D1BAC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01262" y="1899138"/>
            <a:ext cx="11057324" cy="51581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7AA12B-500F-E24A-1154-4D592D9F9014}"/>
              </a:ext>
            </a:extLst>
          </p:cNvPr>
          <p:cNvSpPr txBox="1"/>
          <p:nvPr/>
        </p:nvSpPr>
        <p:spPr>
          <a:xfrm>
            <a:off x="1301262" y="433754"/>
            <a:ext cx="108790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</a:rPr>
              <a:t>Teckstac</a:t>
            </a:r>
            <a:r>
              <a:rPr lang="en-US" sz="4400" dirty="0">
                <a:solidFill>
                  <a:schemeClr val="bg1"/>
                </a:solidFill>
              </a:rPr>
              <a:t> Interface </a:t>
            </a:r>
            <a:endParaRPr lang="en-IN" sz="4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1158A1-EA41-2499-5113-EDA682F55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8586" y="7405638"/>
            <a:ext cx="2200376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661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9074" y="608467"/>
            <a:ext cx="6479262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Assessment Structure</a:t>
            </a:r>
            <a:endParaRPr lang="en-US" sz="4850"/>
          </a:p>
        </p:txBody>
      </p:sp>
      <p:sp>
        <p:nvSpPr>
          <p:cNvPr id="3" name="Shape 1"/>
          <p:cNvSpPr/>
          <p:nvPr/>
        </p:nvSpPr>
        <p:spPr>
          <a:xfrm flipH="1">
            <a:off x="7277390" y="2058582"/>
            <a:ext cx="45719" cy="2816821"/>
          </a:xfrm>
          <a:prstGeom prst="roundRect">
            <a:avLst>
              <a:gd name="adj" fmla="val 340122"/>
            </a:avLst>
          </a:prstGeom>
          <a:solidFill>
            <a:srgbClr val="194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397025" y="1811710"/>
            <a:ext cx="740450" cy="30480"/>
          </a:xfrm>
          <a:prstGeom prst="roundRect">
            <a:avLst>
              <a:gd name="adj" fmla="val 340122"/>
            </a:avLst>
          </a:prstGeom>
          <a:solidFill>
            <a:srgbClr val="194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072270" y="1560870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41692" y="1653425"/>
            <a:ext cx="370165" cy="46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2900"/>
          </a:p>
        </p:txBody>
      </p:sp>
      <p:sp>
        <p:nvSpPr>
          <p:cNvPr id="7" name="Text 5"/>
          <p:cNvSpPr/>
          <p:nvPr/>
        </p:nvSpPr>
        <p:spPr>
          <a:xfrm>
            <a:off x="2995732" y="1680367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240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Stage 1 Assessment</a:t>
            </a:r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863798" y="2121289"/>
            <a:ext cx="5217319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100"/>
              </a:lnSpc>
              <a:buNone/>
            </a:pPr>
            <a:r>
              <a:rPr lang="en-US" sz="1900" b="1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19th March</a:t>
            </a:r>
            <a:endParaRPr lang="en-US" sz="1900"/>
          </a:p>
        </p:txBody>
      </p:sp>
      <p:sp>
        <p:nvSpPr>
          <p:cNvPr id="9" name="Text 7"/>
          <p:cNvSpPr/>
          <p:nvPr/>
        </p:nvSpPr>
        <p:spPr>
          <a:xfrm>
            <a:off x="863798" y="2513624"/>
            <a:ext cx="5217319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100"/>
              </a:lnSpc>
              <a:buNone/>
            </a:pPr>
            <a:endParaRPr lang="en-US" sz="1900" dirty="0">
              <a:solidFill>
                <a:srgbClr val="E2E6E9"/>
              </a:solidFill>
              <a:latin typeface="Merriweather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31822" y="3292609"/>
            <a:ext cx="740450" cy="30480"/>
          </a:xfrm>
          <a:prstGeom prst="roundRect">
            <a:avLst>
              <a:gd name="adj" fmla="val 340122"/>
            </a:avLst>
          </a:prstGeom>
          <a:solidFill>
            <a:srgbClr val="194A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072270" y="3018620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41692" y="3111175"/>
            <a:ext cx="370165" cy="46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2900"/>
          </a:p>
        </p:txBody>
      </p:sp>
      <p:sp>
        <p:nvSpPr>
          <p:cNvPr id="13" name="Text 11"/>
          <p:cNvSpPr/>
          <p:nvPr/>
        </p:nvSpPr>
        <p:spPr>
          <a:xfrm>
            <a:off x="3377173" y="4388459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Final Assessment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097703" y="4823455"/>
            <a:ext cx="2841086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3100"/>
              </a:lnSpc>
            </a:pPr>
            <a:r>
              <a:rPr lang="en-US" sz="1900" b="1" dirty="0">
                <a:solidFill>
                  <a:srgbClr val="E2E6E9"/>
                </a:solidFill>
                <a:latin typeface="Merriweather"/>
                <a:ea typeface="Merriweather" pitchFamily="34" charset="-122"/>
                <a:cs typeface="Merriweather" pitchFamily="34" charset="-120"/>
              </a:rPr>
              <a:t>22-26th May</a:t>
            </a:r>
            <a:endParaRPr lang="en-US" sz="1900" dirty="0">
              <a:latin typeface="Merriweather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796665" y="5267738"/>
            <a:ext cx="5217319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93013" y="6068970"/>
            <a:ext cx="12902803" cy="1443514"/>
          </a:xfrm>
          <a:prstGeom prst="roundRect">
            <a:avLst>
              <a:gd name="adj" fmla="val 7182"/>
            </a:avLst>
          </a:prstGeom>
          <a:solidFill>
            <a:srgbClr val="001D4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584925" y="6479571"/>
            <a:ext cx="11853863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Success Requirement:</a:t>
            </a:r>
            <a:r>
              <a:rPr lang="en-US" sz="19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Achieve </a:t>
            </a:r>
            <a:r>
              <a:rPr lang="en-US" sz="1900" b="1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Green status</a:t>
            </a:r>
            <a:r>
              <a:rPr lang="en-US" sz="19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in final assessments to successfully complete the internship program and demonstrate readiness for enterprise development roles.</a:t>
            </a:r>
            <a:endParaRPr lang="en-US" sz="1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27A6ABE-D4A1-9485-6153-5366E7C9A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342" y="7783955"/>
            <a:ext cx="2972058" cy="388654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46CCF365-DA57-80A6-8C98-457FC0902B4D}"/>
              </a:ext>
            </a:extLst>
          </p:cNvPr>
          <p:cNvSpPr/>
          <p:nvPr/>
        </p:nvSpPr>
        <p:spPr>
          <a:xfrm>
            <a:off x="8526133" y="3195990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400">
                <a:solidFill>
                  <a:srgbClr val="E2E6E9"/>
                </a:solidFill>
                <a:latin typeface="Merriweather"/>
              </a:rPr>
              <a:t>Interim Assessment</a:t>
            </a:r>
            <a:endParaRPr lang="en-US" sz="2400" dirty="0">
              <a:latin typeface="Merriweather"/>
            </a:endParaRP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FD9EFC4B-F823-ED81-506A-642B3C5EE269}"/>
              </a:ext>
            </a:extLst>
          </p:cNvPr>
          <p:cNvSpPr/>
          <p:nvPr/>
        </p:nvSpPr>
        <p:spPr>
          <a:xfrm>
            <a:off x="8549284" y="3729510"/>
            <a:ext cx="3016518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3100"/>
              </a:lnSpc>
            </a:pPr>
            <a:r>
              <a:rPr lang="en-US" sz="1900" b="1" dirty="0">
                <a:solidFill>
                  <a:srgbClr val="E2E6E9"/>
                </a:solidFill>
                <a:latin typeface="Merriweather"/>
                <a:ea typeface="Merriweather" pitchFamily="34" charset="-122"/>
                <a:cs typeface="Merriweather" pitchFamily="34" charset="-120"/>
              </a:rPr>
              <a:t>21th April</a:t>
            </a:r>
            <a:endParaRPr lang="en-US" sz="1900" dirty="0">
              <a:latin typeface="Merriweather"/>
            </a:endParaRPr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99865B05-FFD8-7105-5DDF-31B7EB8C2C2B}"/>
              </a:ext>
            </a:extLst>
          </p:cNvPr>
          <p:cNvSpPr/>
          <p:nvPr/>
        </p:nvSpPr>
        <p:spPr>
          <a:xfrm>
            <a:off x="8375662" y="4168143"/>
            <a:ext cx="5217319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700F185C-D18A-8722-128E-9BE077202286}"/>
              </a:ext>
            </a:extLst>
          </p:cNvPr>
          <p:cNvSpPr/>
          <p:nvPr/>
        </p:nvSpPr>
        <p:spPr>
          <a:xfrm>
            <a:off x="7060695" y="4372858"/>
            <a:ext cx="578457" cy="566882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 lIns="91440" tIns="45720" rIns="91440" bIns="45720" anchor="t"/>
          <a:lstStyle/>
          <a:p>
            <a:pPr algn="ctr"/>
            <a:r>
              <a:rPr lang="en-US" sz="2900">
                <a:solidFill>
                  <a:schemeClr val="bg1"/>
                </a:solidFill>
                <a:latin typeface="Merriweather"/>
                <a:ea typeface="Calibri"/>
                <a:cs typeface="Calibri"/>
              </a:rPr>
              <a:t>3</a:t>
            </a:r>
            <a:endParaRPr lang="en-US" sz="2900">
              <a:solidFill>
                <a:schemeClr val="bg1"/>
              </a:solidFill>
              <a:latin typeface="Merriweather"/>
            </a:endParaRPr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7F4EE899-4A98-A697-EC00-DD13C7BDD32C}"/>
              </a:ext>
            </a:extLst>
          </p:cNvPr>
          <p:cNvSpPr/>
          <p:nvPr/>
        </p:nvSpPr>
        <p:spPr>
          <a:xfrm>
            <a:off x="6323883" y="4635272"/>
            <a:ext cx="740450" cy="30480"/>
          </a:xfrm>
          <a:prstGeom prst="roundRect">
            <a:avLst>
              <a:gd name="adj" fmla="val 340122"/>
            </a:avLst>
          </a:prstGeom>
          <a:solidFill>
            <a:srgbClr val="194A99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798" y="806053"/>
            <a:ext cx="1373029" cy="463868"/>
          </a:xfrm>
          <a:prstGeom prst="roundRect">
            <a:avLst>
              <a:gd name="adj" fmla="val 17879"/>
            </a:avLst>
          </a:prstGeom>
          <a:solidFill>
            <a:srgbClr val="001D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793" y="939284"/>
            <a:ext cx="197406" cy="1974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07902" y="879991"/>
            <a:ext cx="780931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SAGE 1</a:t>
            </a:r>
            <a:endParaRPr lang="en-US" sz="1550"/>
          </a:p>
        </p:txBody>
      </p:sp>
      <p:sp>
        <p:nvSpPr>
          <p:cNvPr id="5" name="Text 2"/>
          <p:cNvSpPr/>
          <p:nvPr/>
        </p:nvSpPr>
        <p:spPr>
          <a:xfrm>
            <a:off x="863798" y="1368623"/>
            <a:ext cx="6180058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Foundation Training</a:t>
            </a:r>
            <a:endParaRPr lang="en-US" sz="4850"/>
          </a:p>
        </p:txBody>
      </p:sp>
      <p:sp>
        <p:nvSpPr>
          <p:cNvPr id="6" name="Shape 3"/>
          <p:cNvSpPr/>
          <p:nvPr/>
        </p:nvSpPr>
        <p:spPr>
          <a:xfrm>
            <a:off x="863798" y="2787729"/>
            <a:ext cx="4124444" cy="1581745"/>
          </a:xfrm>
          <a:prstGeom prst="roundRect">
            <a:avLst>
              <a:gd name="adj" fmla="val 6554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41095" y="3065026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Duration</a:t>
            </a:r>
            <a:endParaRPr lang="en-US" sz="2400"/>
          </a:p>
        </p:txBody>
      </p:sp>
      <p:sp>
        <p:nvSpPr>
          <p:cNvPr id="8" name="Text 5"/>
          <p:cNvSpPr/>
          <p:nvPr/>
        </p:nvSpPr>
        <p:spPr>
          <a:xfrm>
            <a:off x="1141095" y="3697367"/>
            <a:ext cx="3569851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9</a:t>
            </a:r>
            <a:r>
              <a:rPr lang="en-US" sz="1900" baseline="3000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</a:t>
            </a:r>
            <a:r>
              <a:rPr lang="en-US" sz="190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Feb   to 19th March</a:t>
            </a:r>
            <a:endParaRPr lang="en-US" sz="1900"/>
          </a:p>
        </p:txBody>
      </p:sp>
      <p:sp>
        <p:nvSpPr>
          <p:cNvPr id="9" name="Shape 6"/>
          <p:cNvSpPr/>
          <p:nvPr/>
        </p:nvSpPr>
        <p:spPr>
          <a:xfrm>
            <a:off x="863798" y="4616291"/>
            <a:ext cx="4124444" cy="1581745"/>
          </a:xfrm>
          <a:prstGeom prst="roundRect">
            <a:avLst>
              <a:gd name="adj" fmla="val 6554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141095" y="4893588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Assessment</a:t>
            </a:r>
            <a:endParaRPr lang="en-US" sz="2400"/>
          </a:p>
        </p:txBody>
      </p:sp>
      <p:sp>
        <p:nvSpPr>
          <p:cNvPr id="11" name="Text 8"/>
          <p:cNvSpPr/>
          <p:nvPr/>
        </p:nvSpPr>
        <p:spPr>
          <a:xfrm>
            <a:off x="1141095" y="5525929"/>
            <a:ext cx="3569851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19th March</a:t>
            </a:r>
            <a:endParaRPr lang="en-US" sz="1900"/>
          </a:p>
        </p:txBody>
      </p:sp>
      <p:sp>
        <p:nvSpPr>
          <p:cNvPr id="12" name="Text 9"/>
          <p:cNvSpPr/>
          <p:nvPr/>
        </p:nvSpPr>
        <p:spPr>
          <a:xfrm>
            <a:off x="5598081" y="2756892"/>
            <a:ext cx="3254454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Technologies Covered</a:t>
            </a:r>
            <a:endParaRPr lang="en-US" sz="2400"/>
          </a:p>
        </p:txBody>
      </p:sp>
      <p:sp>
        <p:nvSpPr>
          <p:cNvPr id="13" name="Text 10"/>
          <p:cNvSpPr/>
          <p:nvPr/>
        </p:nvSpPr>
        <p:spPr>
          <a:xfrm>
            <a:off x="5598081" y="3389233"/>
            <a:ext cx="8176022" cy="2800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HTML – Structure and semantic markup</a:t>
            </a:r>
            <a:endParaRPr lang="en-US" sz="195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CSS – Styling and responsive design</a:t>
            </a:r>
            <a:endParaRPr lang="en-US" sz="195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JavaScript – Client-side interactivity</a:t>
            </a:r>
            <a:endParaRPr lang="en-US" sz="195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Core Java – Object-oriented programming fundamentals</a:t>
            </a:r>
            <a:endParaRPr lang="en-US" sz="195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JSP – Java Server Pages for dynamic content</a:t>
            </a:r>
            <a:endParaRPr lang="en-US" sz="195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JDBC – Database connectivity and operations</a:t>
            </a:r>
          </a:p>
          <a:p>
            <a:pPr algn="l">
              <a:lnSpc>
                <a:spcPts val="3100"/>
              </a:lnSpc>
              <a:buSzPct val="100000"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</a:rPr>
              <a:t>.     Servlet – Server side request handling </a:t>
            </a:r>
            <a:endParaRPr lang="en-US" sz="19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1D399FA-9D6C-B424-FF9C-3238D8C5D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5894" y="7730462"/>
            <a:ext cx="2972058" cy="388654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DEB8866E-8200-BB67-737F-5C8F56C868C0}"/>
              </a:ext>
            </a:extLst>
          </p:cNvPr>
          <p:cNvSpPr/>
          <p:nvPr/>
        </p:nvSpPr>
        <p:spPr>
          <a:xfrm>
            <a:off x="1005738" y="6969337"/>
            <a:ext cx="11380815" cy="768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400">
                <a:solidFill>
                  <a:srgbClr val="F5F0F0"/>
                </a:solidFill>
                <a:latin typeface="Merriweather"/>
                <a:cs typeface="Segoe UI"/>
              </a:rPr>
              <a:t>Foundation training </a:t>
            </a:r>
            <a:r>
              <a:rPr lang="en-US" sz="2400" b="1">
                <a:solidFill>
                  <a:srgbClr val="F5F0F0"/>
                </a:solidFill>
                <a:latin typeface="Merriweather"/>
                <a:cs typeface="Segoe UI"/>
              </a:rPr>
              <a:t>successfully completed</a:t>
            </a:r>
            <a:endParaRPr lang="en-US" sz="2400">
              <a:latin typeface="Merriweather"/>
            </a:endParaRPr>
          </a:p>
          <a:p>
            <a:pPr marL="0" indent="0" algn="l">
              <a:lnSpc>
                <a:spcPts val="3000"/>
              </a:lnSpc>
              <a:buNone/>
            </a:pPr>
            <a:endParaRPr lang="en-US" sz="2400" dirty="0">
              <a:solidFill>
                <a:srgbClr val="F5F0F0"/>
              </a:solidFill>
              <a:latin typeface="Merriweath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C03CB-0130-4B39-A95C-F2A54A3C2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6C8C7D6-A1E2-61AB-FFE1-95DC8566DED3}"/>
              </a:ext>
            </a:extLst>
          </p:cNvPr>
          <p:cNvSpPr/>
          <p:nvPr/>
        </p:nvSpPr>
        <p:spPr>
          <a:xfrm>
            <a:off x="863798" y="806053"/>
            <a:ext cx="1373029" cy="463868"/>
          </a:xfrm>
          <a:prstGeom prst="roundRect">
            <a:avLst>
              <a:gd name="adj" fmla="val 17879"/>
            </a:avLst>
          </a:prstGeom>
          <a:solidFill>
            <a:srgbClr val="001D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382FB923-A57D-5F07-B459-1BBC669027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793" y="939284"/>
            <a:ext cx="197406" cy="197406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DAF7C26C-3B7F-6A3F-F3CE-A3B5DE6EC37F}"/>
              </a:ext>
            </a:extLst>
          </p:cNvPr>
          <p:cNvSpPr/>
          <p:nvPr/>
        </p:nvSpPr>
        <p:spPr>
          <a:xfrm>
            <a:off x="1307902" y="879991"/>
            <a:ext cx="780931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SAGE 1</a:t>
            </a:r>
            <a:endParaRPr lang="en-US" sz="155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C5CF7F4-579C-3280-6AD7-D37BB198273E}"/>
              </a:ext>
            </a:extLst>
          </p:cNvPr>
          <p:cNvSpPr/>
          <p:nvPr/>
        </p:nvSpPr>
        <p:spPr>
          <a:xfrm>
            <a:off x="863798" y="1669565"/>
            <a:ext cx="9675612" cy="782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4800">
                <a:solidFill>
                  <a:srgbClr val="F5F0F0"/>
                </a:solidFill>
                <a:latin typeface="Merriweather"/>
                <a:cs typeface="Segoe UI"/>
              </a:rPr>
              <a:t>Stage 1 Assessment Outcome</a:t>
            </a:r>
            <a:endParaRPr lang="en-US" sz="4800">
              <a:latin typeface="Merriweather"/>
            </a:endParaRPr>
          </a:p>
          <a:p>
            <a:pPr marL="0" indent="0" algn="l">
              <a:lnSpc>
                <a:spcPts val="6050"/>
              </a:lnSpc>
              <a:buNone/>
            </a:pPr>
            <a:endParaRPr lang="en-US" sz="4850" dirty="0">
              <a:solidFill>
                <a:srgbClr val="F5F0F0"/>
              </a:solidFill>
              <a:latin typeface="Merriweather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1C4FCB5-3B9D-B237-5C1F-1397F6A19F4E}"/>
              </a:ext>
            </a:extLst>
          </p:cNvPr>
          <p:cNvSpPr/>
          <p:nvPr/>
        </p:nvSpPr>
        <p:spPr>
          <a:xfrm>
            <a:off x="864037" y="3173581"/>
            <a:ext cx="8393611" cy="40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400" b="1">
                <a:solidFill>
                  <a:srgbClr val="F5F0F0"/>
                </a:solidFill>
                <a:latin typeface="Merriweather"/>
                <a:cs typeface="Segoe UI"/>
              </a:rPr>
              <a:t>Assessment Type:</a:t>
            </a:r>
            <a:r>
              <a:rPr lang="en-US" sz="2400">
                <a:solidFill>
                  <a:srgbClr val="F5F0F0"/>
                </a:solidFill>
                <a:latin typeface="Merriweather"/>
                <a:cs typeface="Segoe UI"/>
              </a:rPr>
              <a:t> MCQ-based test covering all Stage 1 topic</a:t>
            </a:r>
            <a:r>
              <a:rPr lang="en-US" sz="2400">
                <a:solidFill>
                  <a:srgbClr val="F5F0F0"/>
                </a:solidFill>
                <a:latin typeface="Segoe UI"/>
                <a:cs typeface="Segoe UI"/>
              </a:rPr>
              <a:t>s</a:t>
            </a:r>
            <a:endParaRPr lang="en-US" sz="2400">
              <a:ea typeface="Calibri"/>
              <a:cs typeface="Calibri"/>
            </a:endParaRPr>
          </a:p>
          <a:p>
            <a:pPr marL="0" indent="0" algn="l">
              <a:lnSpc>
                <a:spcPts val="3000"/>
              </a:lnSpc>
              <a:buNone/>
            </a:pPr>
            <a:endParaRPr lang="en-US" sz="2400" dirty="0">
              <a:solidFill>
                <a:srgbClr val="F5F0F0"/>
              </a:solidFill>
              <a:latin typeface="Merriweather"/>
              <a:ea typeface="Calibri"/>
              <a:cs typeface="Calibri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4F3DFC3-9256-4FC7-5FCE-FC4B2505F06E}"/>
              </a:ext>
            </a:extLst>
          </p:cNvPr>
          <p:cNvSpPr/>
          <p:nvPr/>
        </p:nvSpPr>
        <p:spPr>
          <a:xfrm>
            <a:off x="725139" y="3794347"/>
            <a:ext cx="9113571" cy="3089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  <a:buSzPct val="100000"/>
            </a:pPr>
            <a:r>
              <a:rPr lang="en-US" sz="2400" b="1">
                <a:solidFill>
                  <a:srgbClr val="E2E6E9"/>
                </a:solidFill>
                <a:latin typeface="Merriweather"/>
                <a:ea typeface="Calibri" panose="020F0502020204030204"/>
                <a:cs typeface="Segoe UI"/>
              </a:rPr>
              <a:t>  Result:</a:t>
            </a:r>
            <a:r>
              <a:rPr lang="en-US" sz="2400" dirty="0">
                <a:solidFill>
                  <a:srgbClr val="E2E6E9"/>
                </a:solidFill>
                <a:latin typeface="Merriweather"/>
                <a:ea typeface="Calibri" panose="020F0502020204030204"/>
                <a:cs typeface="Segoe UI"/>
              </a:rPr>
              <a:t> 93% | Stage 1 Successfully Cleared</a:t>
            </a:r>
            <a:endParaRPr lang="en-US" sz="2400" dirty="0">
              <a:latin typeface="Merriweather"/>
              <a:ea typeface="Calibri" panose="020F0502020204030204"/>
              <a:cs typeface="Calibri" panose="020F0502020204030204"/>
            </a:endParaRPr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endParaRPr lang="en-US" sz="1950" dirty="0">
              <a:solidFill>
                <a:srgbClr val="E2E6E9"/>
              </a:solidFill>
              <a:latin typeface="Merriweather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0EBFAA0-6396-06D0-0BE4-9CDE5C0B1D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5894" y="7730462"/>
            <a:ext cx="2972058" cy="38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99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798" y="829151"/>
            <a:ext cx="1400889" cy="463868"/>
          </a:xfrm>
          <a:prstGeom prst="roundRect">
            <a:avLst>
              <a:gd name="adj" fmla="val 17879"/>
            </a:avLst>
          </a:prstGeom>
          <a:solidFill>
            <a:srgbClr val="001D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793" y="962382"/>
            <a:ext cx="197406" cy="1974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07902" y="903089"/>
            <a:ext cx="808792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STAGE 2</a:t>
            </a:r>
            <a:endParaRPr lang="en-US" sz="1550"/>
          </a:p>
        </p:txBody>
      </p:sp>
      <p:sp>
        <p:nvSpPr>
          <p:cNvPr id="5" name="Text 2"/>
          <p:cNvSpPr/>
          <p:nvPr/>
        </p:nvSpPr>
        <p:spPr>
          <a:xfrm>
            <a:off x="863798" y="1391722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AEM Specialization</a:t>
            </a:r>
            <a:endParaRPr lang="en-US" sz="4850"/>
          </a:p>
        </p:txBody>
      </p:sp>
      <p:sp>
        <p:nvSpPr>
          <p:cNvPr id="6" name="Text 3"/>
          <p:cNvSpPr/>
          <p:nvPr/>
        </p:nvSpPr>
        <p:spPr>
          <a:xfrm>
            <a:off x="863798" y="2779990"/>
            <a:ext cx="6858953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Focus Area: Adobe Experience Manager (AEM)</a:t>
            </a:r>
            <a:endParaRPr lang="en-US" sz="2400"/>
          </a:p>
        </p:txBody>
      </p:sp>
      <p:sp>
        <p:nvSpPr>
          <p:cNvPr id="7" name="Text 4"/>
          <p:cNvSpPr/>
          <p:nvPr/>
        </p:nvSpPr>
        <p:spPr>
          <a:xfrm>
            <a:off x="863798" y="3412331"/>
            <a:ext cx="8176022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Stage 2 transitions from foundational web technologies to enterprise-level content management system expertise, preparing for real-world digital experience implementations.</a:t>
            </a:r>
            <a:endParaRPr lang="en-US" sz="1900"/>
          </a:p>
        </p:txBody>
      </p:sp>
      <p:sp>
        <p:nvSpPr>
          <p:cNvPr id="8" name="Text 5"/>
          <p:cNvSpPr/>
          <p:nvPr/>
        </p:nvSpPr>
        <p:spPr>
          <a:xfrm>
            <a:off x="863798" y="4843582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Learning Objectives</a:t>
            </a:r>
            <a:endParaRPr lang="en-US" sz="2400"/>
          </a:p>
        </p:txBody>
      </p:sp>
      <p:sp>
        <p:nvSpPr>
          <p:cNvPr id="9" name="Text 6"/>
          <p:cNvSpPr/>
          <p:nvPr/>
        </p:nvSpPr>
        <p:spPr>
          <a:xfrm>
            <a:off x="863798" y="5475923"/>
            <a:ext cx="8176022" cy="183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Enterprise CMS architecture understanding</a:t>
            </a:r>
            <a:endParaRPr lang="en-US" sz="190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Component-based development methodology</a:t>
            </a:r>
            <a:endParaRPr lang="en-US" sz="190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Advanced implementation exposure</a:t>
            </a:r>
            <a:endParaRPr lang="en-US" sz="190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Content authoring and workflow management</a:t>
            </a:r>
            <a:endParaRPr lang="en-US" sz="1900"/>
          </a:p>
        </p:txBody>
      </p:sp>
      <p:sp>
        <p:nvSpPr>
          <p:cNvPr id="10" name="Shape 7"/>
          <p:cNvSpPr/>
          <p:nvPr/>
        </p:nvSpPr>
        <p:spPr>
          <a:xfrm>
            <a:off x="9471898" y="2533174"/>
            <a:ext cx="4479965" cy="2063591"/>
          </a:xfrm>
          <a:prstGeom prst="roundRect">
            <a:avLst>
              <a:gd name="adj" fmla="val 3967"/>
            </a:avLst>
          </a:prstGeom>
          <a:solidFill>
            <a:srgbClr val="609D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718715" y="2779990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Timeline</a:t>
            </a:r>
            <a:endParaRPr lang="en-US" sz="2400"/>
          </a:p>
        </p:txBody>
      </p:sp>
      <p:sp>
        <p:nvSpPr>
          <p:cNvPr id="12" name="Text 9"/>
          <p:cNvSpPr/>
          <p:nvPr/>
        </p:nvSpPr>
        <p:spPr>
          <a:xfrm>
            <a:off x="9718715" y="3412331"/>
            <a:ext cx="3986332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Duration:</a:t>
            </a:r>
            <a:r>
              <a:rPr lang="en-US" sz="19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Post 19th March to 26th May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9718715" y="4424005"/>
            <a:ext cx="3986332" cy="197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28AECCA-38BA-0DCC-CCD7-98D5106A3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5894" y="7730462"/>
            <a:ext cx="2972058" cy="3886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B8D776F-4AA2-4216-399B-4F0B0BF29E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5496862"/>
            <a:ext cx="4165402" cy="14900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C03CB-0130-4B39-A95C-F2A54A3C2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6C8C7D6-A1E2-61AB-FFE1-95DC8566DED3}"/>
              </a:ext>
            </a:extLst>
          </p:cNvPr>
          <p:cNvSpPr/>
          <p:nvPr/>
        </p:nvSpPr>
        <p:spPr>
          <a:xfrm>
            <a:off x="863798" y="806053"/>
            <a:ext cx="1373029" cy="463868"/>
          </a:xfrm>
          <a:prstGeom prst="roundRect">
            <a:avLst>
              <a:gd name="adj" fmla="val 17879"/>
            </a:avLst>
          </a:prstGeom>
          <a:solidFill>
            <a:srgbClr val="001D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382FB923-A57D-5F07-B459-1BBC669027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1793" y="939284"/>
            <a:ext cx="197406" cy="197406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DAF7C26C-3B7F-6A3F-F3CE-A3B5DE6EC37F}"/>
              </a:ext>
            </a:extLst>
          </p:cNvPr>
          <p:cNvSpPr/>
          <p:nvPr/>
        </p:nvSpPr>
        <p:spPr>
          <a:xfrm>
            <a:off x="1307902" y="879991"/>
            <a:ext cx="780931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STAGE 2</a:t>
            </a:r>
            <a:endParaRPr lang="en-US" sz="155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C5CF7F4-579C-3280-6AD7-D37BB198273E}"/>
              </a:ext>
            </a:extLst>
          </p:cNvPr>
          <p:cNvSpPr/>
          <p:nvPr/>
        </p:nvSpPr>
        <p:spPr>
          <a:xfrm>
            <a:off x="863798" y="1669565"/>
            <a:ext cx="9675612" cy="782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4800">
                <a:solidFill>
                  <a:srgbClr val="F5F0F0"/>
                </a:solidFill>
                <a:latin typeface="Merriweather"/>
                <a:cs typeface="Segoe UI"/>
              </a:rPr>
              <a:t>Interim Evaluation Outcome</a:t>
            </a:r>
            <a:endParaRPr lang="en-US" sz="4800">
              <a:latin typeface="Merriweather"/>
            </a:endParaRPr>
          </a:p>
          <a:p>
            <a:pPr marL="0" indent="0" algn="l">
              <a:lnSpc>
                <a:spcPts val="6050"/>
              </a:lnSpc>
              <a:buNone/>
            </a:pPr>
            <a:endParaRPr lang="en-US" sz="4850" dirty="0">
              <a:solidFill>
                <a:srgbClr val="F5F0F0"/>
              </a:solidFill>
              <a:latin typeface="Merriweather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1C4FCB5-3B9D-B237-5C1F-1397F6A19F4E}"/>
              </a:ext>
            </a:extLst>
          </p:cNvPr>
          <p:cNvSpPr/>
          <p:nvPr/>
        </p:nvSpPr>
        <p:spPr>
          <a:xfrm>
            <a:off x="864037" y="3173581"/>
            <a:ext cx="8393611" cy="40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400" b="1">
                <a:solidFill>
                  <a:srgbClr val="F5F0F0"/>
                </a:solidFill>
                <a:latin typeface="Merriweather"/>
                <a:cs typeface="Segoe UI"/>
              </a:rPr>
              <a:t>Assessment Type:</a:t>
            </a:r>
            <a:r>
              <a:rPr lang="en-US" sz="2400">
                <a:solidFill>
                  <a:srgbClr val="F5F0F0"/>
                </a:solidFill>
                <a:latin typeface="Merriweather"/>
                <a:cs typeface="Segoe UI"/>
              </a:rPr>
              <a:t> AEM specialization assessment covering Stage 2 topics</a:t>
            </a:r>
            <a:endParaRPr lang="en-US" sz="2400">
              <a:ea typeface="Calibri"/>
              <a:cs typeface="Calibri"/>
            </a:endParaRPr>
          </a:p>
          <a:p>
            <a:pPr marL="0" indent="0" algn="l">
              <a:lnSpc>
                <a:spcPts val="3000"/>
              </a:lnSpc>
              <a:buNone/>
            </a:pPr>
            <a:endParaRPr lang="en-US" sz="2400" dirty="0">
              <a:solidFill>
                <a:srgbClr val="F5F0F0"/>
              </a:solidFill>
              <a:latin typeface="Merriweather"/>
              <a:ea typeface="Calibri"/>
              <a:cs typeface="Calibri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4F3DFC3-9256-4FC7-5FCE-FC4B2505F06E}"/>
              </a:ext>
            </a:extLst>
          </p:cNvPr>
          <p:cNvSpPr/>
          <p:nvPr/>
        </p:nvSpPr>
        <p:spPr>
          <a:xfrm>
            <a:off x="725139" y="3794347"/>
            <a:ext cx="11384799" cy="3089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  <a:buSzPct val="100000"/>
            </a:pPr>
            <a:r>
              <a:rPr lang="en-US" sz="2400" b="1" dirty="0">
                <a:solidFill>
                  <a:srgbClr val="E2E6E9"/>
                </a:solidFill>
                <a:latin typeface="Merriweather"/>
                <a:ea typeface="Calibri" panose="020F0502020204030204"/>
                <a:cs typeface="Segoe UI"/>
              </a:rPr>
              <a:t>  Result:</a:t>
            </a:r>
            <a:r>
              <a:rPr lang="en-US" sz="2400" dirty="0">
                <a:solidFill>
                  <a:srgbClr val="E2E6E9"/>
                </a:solidFill>
                <a:latin typeface="Merriweather"/>
                <a:ea typeface="Calibri" panose="020F0502020204030204"/>
                <a:cs typeface="Segoe UI"/>
              </a:rPr>
              <a:t> Green Status | Interim Evaluation Successfully Cleared</a:t>
            </a:r>
            <a:endParaRPr lang="en-US" sz="2400" dirty="0">
              <a:latin typeface="Merriweather"/>
              <a:ea typeface="Calibri" panose="020F0502020204030204"/>
              <a:cs typeface="Calibri" panose="020F0502020204030204"/>
            </a:endParaRPr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endParaRPr lang="en-US" sz="1950" dirty="0">
              <a:solidFill>
                <a:srgbClr val="E2E6E9"/>
              </a:solidFill>
              <a:latin typeface="Merriweather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0EBFAA0-6396-06D0-0BE4-9CDE5C0B1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5894" y="7730462"/>
            <a:ext cx="2972058" cy="38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99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5925" y="920591"/>
            <a:ext cx="686525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050"/>
              </a:lnSpc>
            </a:pPr>
            <a:r>
              <a:rPr lang="en-US" sz="4850" dirty="0">
                <a:solidFill>
                  <a:srgbClr val="F5F0F0"/>
                </a:solidFill>
                <a:ea typeface="+mn-lt"/>
                <a:cs typeface="+mn-lt"/>
              </a:rPr>
              <a:t>Stage 2 – Current Progress</a:t>
            </a:r>
            <a:endParaRPr lang="en-US" dirty="0"/>
          </a:p>
          <a:p>
            <a:pPr marL="0" indent="0" algn="l">
              <a:lnSpc>
                <a:spcPts val="6050"/>
              </a:lnSpc>
              <a:buNone/>
            </a:pPr>
            <a:endParaRPr lang="en-US" sz="4850" dirty="0">
              <a:solidFill>
                <a:srgbClr val="F5F0F0"/>
              </a:solidFill>
              <a:latin typeface="Merriweather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3798" y="2185511"/>
            <a:ext cx="12902803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en-US" sz="1900" dirty="0">
                <a:solidFill>
                  <a:srgbClr val="E2E6E9"/>
                </a:solidFill>
                <a:latin typeface="Merriweather"/>
                <a:ea typeface="Merriweather" pitchFamily="34" charset="-122"/>
                <a:cs typeface="Merriweather" pitchFamily="34" charset="-120"/>
              </a:rPr>
              <a:t>Currently in </a:t>
            </a:r>
            <a:r>
              <a:rPr lang="en-US" sz="1900" b="1" dirty="0">
                <a:solidFill>
                  <a:srgbClr val="609DFF"/>
                </a:solidFill>
                <a:latin typeface="Merriweather"/>
                <a:ea typeface="Merriweather" pitchFamily="34" charset="-122"/>
                <a:cs typeface="Merriweather" pitchFamily="34" charset="-120"/>
              </a:rPr>
              <a:t>Week  14 </a:t>
            </a:r>
            <a:r>
              <a:rPr lang="en-US" sz="1900" dirty="0">
                <a:solidFill>
                  <a:srgbClr val="E2E6E9"/>
                </a:solidFill>
                <a:latin typeface="Merriweather"/>
                <a:ea typeface="Merriweather" pitchFamily="34" charset="-122"/>
                <a:cs typeface="Merriweather" pitchFamily="34" charset="-120"/>
              </a:rPr>
              <a:t>of the training program, demonstrating consistent progress and active engagement with the curriculum.</a:t>
            </a:r>
            <a:endParaRPr lang="en-US" sz="1900" dirty="0">
              <a:latin typeface="Merriweather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79086" y="3523453"/>
            <a:ext cx="6150293" cy="3500795"/>
          </a:xfrm>
          <a:prstGeom prst="roundRect">
            <a:avLst>
              <a:gd name="adj" fmla="val 2961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49004" y="3810630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Completed</a:t>
            </a:r>
            <a:endParaRPr lang="en-US" sz="2400"/>
          </a:p>
        </p:txBody>
      </p:sp>
      <p:sp>
        <p:nvSpPr>
          <p:cNvPr id="8" name="Text 5"/>
          <p:cNvSpPr/>
          <p:nvPr/>
        </p:nvSpPr>
        <p:spPr>
          <a:xfrm>
            <a:off x="788852" y="3854534"/>
            <a:ext cx="5614605" cy="2063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  <a:buSzPct val="100000"/>
            </a:pPr>
            <a:endParaRPr lang="en-US" sz="1900" dirty="0">
              <a:solidFill>
                <a:srgbClr val="E2E6E9"/>
              </a:solidFill>
              <a:latin typeface="Merriweather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590407" y="3531643"/>
            <a:ext cx="6150293" cy="3383042"/>
          </a:xfrm>
          <a:prstGeom prst="roundRect">
            <a:avLst>
              <a:gd name="adj" fmla="val 4325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593449" y="3530441"/>
            <a:ext cx="121920" cy="3383042"/>
          </a:xfrm>
          <a:prstGeom prst="roundRect">
            <a:avLst>
              <a:gd name="adj" fmla="val 85031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992666" y="3807738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Ongoing</a:t>
            </a:r>
            <a:endParaRPr lang="en-US" sz="2400"/>
          </a:p>
        </p:txBody>
      </p:sp>
      <p:sp>
        <p:nvSpPr>
          <p:cNvPr id="12" name="Text 9"/>
          <p:cNvSpPr/>
          <p:nvPr/>
        </p:nvSpPr>
        <p:spPr>
          <a:xfrm>
            <a:off x="7992666" y="4694722"/>
            <a:ext cx="5504259" cy="1089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solidFill>
                  <a:srgbClr val="E2E6E9"/>
                </a:solidFill>
                <a:latin typeface="Merriweather"/>
                <a:ea typeface="+mn-lt"/>
                <a:cs typeface="+mn-lt"/>
              </a:rPr>
              <a:t>Stage 2 AEM specialization training</a:t>
            </a:r>
            <a:endParaRPr lang="en-US">
              <a:latin typeface="Merriweather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solidFill>
                  <a:srgbClr val="E2E6E9"/>
                </a:solidFill>
                <a:latin typeface="Merriweather"/>
                <a:ea typeface="+mn-lt"/>
                <a:cs typeface="+mn-lt"/>
              </a:rPr>
              <a:t>Hands-on practice and learning in progress</a:t>
            </a:r>
            <a:endParaRPr lang="en-US">
              <a:latin typeface="Merriweather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992666" y="4997565"/>
            <a:ext cx="5504259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>
              <a:solidFill>
                <a:srgbClr val="E2E6E9"/>
              </a:solidFill>
              <a:latin typeface="Merriweather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9141219-BC85-6CAB-E441-C82713E65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5894" y="7730462"/>
            <a:ext cx="2972058" cy="38865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7206FE9-123C-E3EB-BB50-594DA8AD67AA}"/>
              </a:ext>
            </a:extLst>
          </p:cNvPr>
          <p:cNvSpPr txBox="1"/>
          <p:nvPr/>
        </p:nvSpPr>
        <p:spPr>
          <a:xfrm>
            <a:off x="1047914" y="4591211"/>
            <a:ext cx="5899477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latin typeface="Segoe UI"/>
                <a:ea typeface="+mn-lt"/>
                <a:cs typeface="Segoe UI"/>
              </a:rPr>
              <a:t>AEM Fundamentals &amp; Maven Project Structure</a:t>
            </a: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latin typeface="Segoe UI"/>
                <a:ea typeface="+mn-lt"/>
                <a:cs typeface="Segoe UI"/>
              </a:rPr>
              <a:t>Components, HTL, Templates, </a:t>
            </a:r>
            <a:r>
              <a:rPr lang="en-US" dirty="0" err="1">
                <a:solidFill>
                  <a:srgbClr val="FFFFFF"/>
                </a:solidFill>
                <a:latin typeface="Segoe UI"/>
                <a:ea typeface="+mn-lt"/>
                <a:cs typeface="Segoe UI"/>
              </a:rPr>
              <a:t>ClientLibs</a:t>
            </a:r>
            <a:r>
              <a:rPr lang="en-US" dirty="0">
                <a:solidFill>
                  <a:srgbClr val="FFFFFF"/>
                </a:solidFill>
                <a:latin typeface="Segoe UI"/>
                <a:ea typeface="+mn-lt"/>
                <a:cs typeface="Segoe UI"/>
              </a:rPr>
              <a:t> &amp; Dialogs</a:t>
            </a:r>
            <a:endParaRPr lang="en-US" dirty="0">
              <a:latin typeface="Segoe UI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latin typeface="Segoe UI"/>
                <a:ea typeface="+mn-lt"/>
                <a:cs typeface="Segoe UI"/>
              </a:rPr>
              <a:t>OSGi Configurations &amp; Sling Servlets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latin typeface="Segoe UI"/>
                <a:ea typeface="+mn-lt"/>
                <a:cs typeface="Segoe UI"/>
              </a:rPr>
              <a:t>Touch UI, RTE &amp; User Groups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>
                <a:solidFill>
                  <a:srgbClr val="FFFFFF"/>
                </a:solidFill>
                <a:latin typeface="Segoe UI"/>
                <a:ea typeface="+mn-lt"/>
                <a:cs typeface="Segoe UI"/>
              </a:rPr>
              <a:t>AEM Assets &amp; Tagging Framework</a:t>
            </a:r>
            <a:endParaRPr lang="en-US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rgbClr val="FFFFFF"/>
              </a:solidFill>
              <a:latin typeface="Segoe UI"/>
              <a:ea typeface="Calibri" panose="020F0502020204030204"/>
              <a:cs typeface="Segoe UI"/>
            </a:endParaRPr>
          </a:p>
          <a:p>
            <a:pPr>
              <a:buFont typeface="Arial"/>
              <a:buChar char="•"/>
            </a:pP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/>
            <a:endParaRPr lang="en-US" dirty="0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A696E7-B173-775D-4158-54AF894E8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331" y="1871330"/>
            <a:ext cx="10058400" cy="5205764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0D7B09C8-E223-07EF-7559-4BD8EAE762B2}"/>
              </a:ext>
            </a:extLst>
          </p:cNvPr>
          <p:cNvSpPr/>
          <p:nvPr/>
        </p:nvSpPr>
        <p:spPr>
          <a:xfrm>
            <a:off x="1290661" y="1152506"/>
            <a:ext cx="6865251" cy="427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2800" dirty="0">
                <a:solidFill>
                  <a:srgbClr val="F5F0F0"/>
                </a:solidFill>
                <a:latin typeface="Merriweather"/>
              </a:rPr>
              <a:t>AEM Dashboard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DC9B29-22BC-BA74-7CFC-52E0DB943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5894" y="7730462"/>
            <a:ext cx="2972058" cy="388654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FA26BFD8-1D26-34CD-1B51-9F0179B1E119}"/>
              </a:ext>
            </a:extLst>
          </p:cNvPr>
          <p:cNvSpPr/>
          <p:nvPr/>
        </p:nvSpPr>
        <p:spPr>
          <a:xfrm>
            <a:off x="856907" y="350711"/>
            <a:ext cx="6865251" cy="427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3800" dirty="0">
                <a:solidFill>
                  <a:srgbClr val="F5F0F0"/>
                </a:solidFill>
                <a:latin typeface="Merriweather"/>
              </a:rPr>
              <a:t>Key Features and AEM Interfaces  </a:t>
            </a:r>
          </a:p>
        </p:txBody>
      </p:sp>
    </p:spTree>
    <p:extLst>
      <p:ext uri="{BB962C8B-B14F-4D97-AF65-F5344CB8AC3E}">
        <p14:creationId xmlns:p14="http://schemas.microsoft.com/office/powerpoint/2010/main" val="909616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FFB5B4-E133-2A0C-15FA-B95C5590D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557" y="1913862"/>
            <a:ext cx="10528382" cy="534089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DE7A8C3D-6A27-C8CE-E8FE-AF909AAB60B8}"/>
              </a:ext>
            </a:extLst>
          </p:cNvPr>
          <p:cNvSpPr/>
          <p:nvPr/>
        </p:nvSpPr>
        <p:spPr>
          <a:xfrm>
            <a:off x="805925" y="920591"/>
            <a:ext cx="10528382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2800" dirty="0">
                <a:solidFill>
                  <a:srgbClr val="F5F0F0"/>
                </a:solidFill>
                <a:latin typeface="Merriweather"/>
              </a:rPr>
              <a:t>CRX-DE Java Content Repository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D80DEE-C9C5-3411-CA32-8CD20C5C2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5894" y="7730462"/>
            <a:ext cx="2972058" cy="38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606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13B9266-881D-FD0A-C53D-63B64AEC03CA}"/>
              </a:ext>
            </a:extLst>
          </p:cNvPr>
          <p:cNvSpPr/>
          <p:nvPr/>
        </p:nvSpPr>
        <p:spPr>
          <a:xfrm>
            <a:off x="805925" y="920591"/>
            <a:ext cx="8720847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2800" dirty="0">
                <a:solidFill>
                  <a:srgbClr val="F5F0F0"/>
                </a:solidFill>
                <a:latin typeface="Merriweather"/>
              </a:rPr>
              <a:t>  Page Creation Interface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EF1DF6-C079-247F-507D-EEFF266F9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5894" y="7730462"/>
            <a:ext cx="2972058" cy="3886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755AD0-D813-5397-C7BD-A8A309EE0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395" y="2039484"/>
            <a:ext cx="11785735" cy="544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206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BD44ED-20A6-7305-A648-DD1E61CC1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889" y="2028767"/>
            <a:ext cx="12482622" cy="514184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AE134386-ACAE-C3C2-5F07-899F690EA422}"/>
              </a:ext>
            </a:extLst>
          </p:cNvPr>
          <p:cNvSpPr/>
          <p:nvPr/>
        </p:nvSpPr>
        <p:spPr>
          <a:xfrm>
            <a:off x="1073889" y="673349"/>
            <a:ext cx="8720847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2800" dirty="0">
                <a:solidFill>
                  <a:srgbClr val="F5F0F0"/>
                </a:solidFill>
                <a:latin typeface="Merriweather"/>
              </a:rPr>
              <a:t>RTE –Rich Text Experience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228E08-6169-BD21-23A6-1153F4522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5894" y="7730462"/>
            <a:ext cx="2972058" cy="38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8754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1269C2-7698-FF0B-E8F8-0C9AB0E7513C}"/>
              </a:ext>
            </a:extLst>
          </p:cNvPr>
          <p:cNvSpPr txBox="1"/>
          <p:nvPr/>
        </p:nvSpPr>
        <p:spPr>
          <a:xfrm>
            <a:off x="1385887" y="3228975"/>
            <a:ext cx="118586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>
                <a:solidFill>
                  <a:schemeClr val="bg1"/>
                </a:solidFill>
              </a:rPr>
              <a:t>                THANK YOU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87440C-95C6-E99B-E6CA-241570136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8586" y="7405638"/>
            <a:ext cx="2200376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05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599</Words>
  <Application>Microsoft Office PowerPoint</Application>
  <PresentationFormat>Custom</PresentationFormat>
  <Paragraphs>129</Paragraphs>
  <Slides>18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Times New Roman</vt:lpstr>
      <vt:lpstr>Merriweather</vt:lpstr>
      <vt:lpstr>Calibri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Choure, Kunal Ashok (Contractor)</dc:creator>
  <cp:lastModifiedBy>KUNAL CHOURE</cp:lastModifiedBy>
  <cp:revision>191</cp:revision>
  <dcterms:created xsi:type="dcterms:W3CDTF">2026-02-19T16:37:33Z</dcterms:created>
  <dcterms:modified xsi:type="dcterms:W3CDTF">2026-05-09T07:27:57Z</dcterms:modified>
</cp:coreProperties>
</file>